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E948B"/>
                </a:solidFill>
                <a:latin typeface="Calibri"/>
              </a:defRPr>
            </a:pPr>
            <a:r>
              <a:t>SLIDE 1 — 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0E948B"/>
                </a:solidFill>
                <a:latin typeface="Calibri"/>
              </a:defRPr>
            </a:pPr>
            <a:r>
              <a:t>Pausibl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6400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[PERSONA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777777"/>
                </a:solidFill>
                <a:latin typeface="Calibri"/>
              </a:defRPr>
            </a:pPr>
            <a:r>
              <a:t>e.g., Steady Elephant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743200"/>
            <a:ext cx="5486400" cy="640080"/>
          </a:xfrm>
          <a:prstGeom prst="rect">
            <a:avLst/>
          </a:prstGeom>
          <a:solidFill>
            <a:srgbClr val="2A3370"/>
          </a:solidFill>
          <a:ln w="12700">
            <a:solidFill>
              <a:srgbClr val="3A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761488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E948B"/>
                </a:solidFill>
                <a:latin typeface="Calibri"/>
              </a:defRPr>
            </a:pPr>
            <a:r>
              <a:t>PERSONA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999232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e.g., Core Steady Elephant with Watchful Deer tendencies</a:t>
            </a:r>
            <a:br/>
            <a:r>
              <a:t>Fit tiers: Classic | Core | Leaning | Exploring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520440"/>
            <a:ext cx="5486400" cy="640080"/>
          </a:xfrm>
          <a:prstGeom prst="rect">
            <a:avLst/>
          </a:prstGeom>
          <a:solidFill>
            <a:srgbClr val="2A3370"/>
          </a:solidFill>
          <a:ln w="12700">
            <a:solidFill>
              <a:srgbClr val="3A43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3538728"/>
            <a:ext cx="5029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E948B"/>
                </a:solidFill>
                <a:latin typeface="Calibri"/>
              </a:defRPr>
            </a:pPr>
            <a:r>
              <a:t>ONE-LINE PERSONA 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776472"/>
            <a:ext cx="5029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A single sentence capturing the persona's core wellness behavior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731520"/>
            <a:ext cx="4846320" cy="411480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40880" y="822960"/>
            <a:ext cx="4480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PERSONA ILLUSTRATION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143000"/>
            <a:ext cx="44805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Animal visual / illustration for the assigned persona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777777"/>
                </a:solidFill>
                <a:latin typeface="Calibri"/>
              </a:defRPr>
            </a:pPr>
            <a:r>
              <a:rPr dirty="0"/>
              <a:t>User </a:t>
            </a:r>
            <a:r>
              <a:rPr lang="en-US" dirty="0"/>
              <a:t>Full </a:t>
            </a:r>
            <a:r>
              <a:rPr dirty="0"/>
              <a:t>Name  |  Date  |  Report 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3093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777777"/>
                </a:solidFill>
                <a:latin typeface="Calibri"/>
              </a:defRPr>
            </a:pPr>
            <a:r>
              <a:t>Report Template v2.0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E948B"/>
                </a:solidFill>
                <a:latin typeface="Calibri"/>
              </a:defRPr>
            </a:pPr>
            <a:r>
              <a:rPr dirty="0"/>
              <a:t>SLIDE </a:t>
            </a:r>
            <a:r>
              <a:rPr lang="en-US" dirty="0"/>
              <a:t>2</a:t>
            </a:r>
            <a:r>
              <a:rPr dirty="0"/>
              <a:t> — </a:t>
            </a:r>
            <a:r>
              <a:rPr lang="en-US" dirty="0"/>
              <a:t>Introduction to the report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33AB448-90D4-BDBE-F673-FC56C487D2A5}"/>
              </a:ext>
            </a:extLst>
          </p:cNvPr>
          <p:cNvSpPr/>
          <p:nvPr/>
        </p:nvSpPr>
        <p:spPr>
          <a:xfrm>
            <a:off x="539496" y="1252728"/>
            <a:ext cx="11393424" cy="6766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About the report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9C84B99-079D-60FE-BA7F-023F38D144F4}"/>
              </a:ext>
            </a:extLst>
          </p:cNvPr>
          <p:cNvSpPr/>
          <p:nvPr/>
        </p:nvSpPr>
        <p:spPr>
          <a:xfrm>
            <a:off x="539496" y="2087880"/>
            <a:ext cx="2487168" cy="42214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Key objectives of the report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F7F8B66-D5B0-26F0-2140-605E7A702CEB}"/>
              </a:ext>
            </a:extLst>
          </p:cNvPr>
          <p:cNvSpPr/>
          <p:nvPr/>
        </p:nvSpPr>
        <p:spPr>
          <a:xfrm>
            <a:off x="3179064" y="2087880"/>
            <a:ext cx="8753856" cy="422148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Showcase Persona archetypes (animal images) and brief descriptions of these archetypes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522E4-ADC9-7D6A-DEC3-D3981E350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03986D-FFEE-760D-8AC7-7C565828ABD6}"/>
              </a:ext>
            </a:extLst>
          </p:cNvPr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E948B"/>
                </a:solidFill>
                <a:latin typeface="Calibri"/>
              </a:defRPr>
            </a:pPr>
            <a:r>
              <a:t>SLIDE 2 — YOUR WELLNESS PERSONALITY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E8E565-5CDB-848E-BDBB-F52ABC591783}"/>
              </a:ext>
            </a:extLst>
          </p:cNvPr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Your Wellness Personality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15A46D-A8B2-66AC-7B12-61E20A3E476B}"/>
              </a:ext>
            </a:extLst>
          </p:cNvPr>
          <p:cNvSpPr/>
          <p:nvPr/>
        </p:nvSpPr>
        <p:spPr>
          <a:xfrm>
            <a:off x="2231136" y="1097280"/>
            <a:ext cx="5358384" cy="256032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77DCB5-2440-E82C-5BDC-03D3F1F5E97C}"/>
              </a:ext>
            </a:extLst>
          </p:cNvPr>
          <p:cNvSpPr txBox="1"/>
          <p:nvPr/>
        </p:nvSpPr>
        <p:spPr>
          <a:xfrm>
            <a:off x="2300068" y="1188720"/>
            <a:ext cx="5152292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PERSONA NARRATIVE (2-3 paragraphs, 150-200 words)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6FEE2-DB53-2D07-18D6-876013C04EF6}"/>
              </a:ext>
            </a:extLst>
          </p:cNvPr>
          <p:cNvSpPr txBox="1"/>
          <p:nvPr/>
        </p:nvSpPr>
        <p:spPr>
          <a:xfrm>
            <a:off x="2300068" y="1463040"/>
            <a:ext cx="5152292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AI-generated narrative describing how this persona approaches wellness.</a:t>
            </a:r>
            <a:br/>
            <a:r>
              <a:t>Written in second person. Behavioral descriptions, NOT trait labels.</a:t>
            </a:r>
            <a:br/>
            <a:r>
              <a:t>Must feel like: 'This is exactly how I operate.'</a:t>
            </a:r>
            <a:br/>
            <a:br/>
            <a:r>
              <a:t>No OCEAN scores. No charts. No persona names. Pure narrative.</a:t>
            </a:r>
            <a:br/>
            <a:r>
              <a:t>Tone adjusts by fit tier: Classic=assertive, Core=confident,</a:t>
            </a:r>
            <a:br/>
            <a:r>
              <a:t>Leaning=exploratory, Exploring=tentative.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659D91-5292-ED21-8AB1-C3848E3E5458}"/>
              </a:ext>
            </a:extLst>
          </p:cNvPr>
          <p:cNvSpPr/>
          <p:nvPr/>
        </p:nvSpPr>
        <p:spPr>
          <a:xfrm>
            <a:off x="2231136" y="3794760"/>
            <a:ext cx="5358384" cy="100584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634360-4BA0-A9FA-50F6-F5A735E88987}"/>
              </a:ext>
            </a:extLst>
          </p:cNvPr>
          <p:cNvSpPr txBox="1"/>
          <p:nvPr/>
        </p:nvSpPr>
        <p:spPr>
          <a:xfrm>
            <a:off x="2300068" y="3886200"/>
            <a:ext cx="5152292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SECONDARY PERSONA INFLUENCE (blend-strength dependent)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711480-43AC-7188-C2D9-03847978107B}"/>
              </a:ext>
            </a:extLst>
          </p:cNvPr>
          <p:cNvSpPr txBox="1"/>
          <p:nvPr/>
        </p:nvSpPr>
        <p:spPr>
          <a:xfrm>
            <a:off x="2300068" y="4160520"/>
            <a:ext cx="5152292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Pure: Omit this section entirely.</a:t>
            </a:r>
            <a:br/>
            <a:r>
              <a:t>Tendencies: 1 sentence acknowledging secondary influence.</a:t>
            </a:r>
            <a:br/>
            <a:r>
              <a:t>Strong Influence: Full paragraph explaining how two sides interact.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76969B-5E6C-9ACB-6375-61C6931EE18C}"/>
              </a:ext>
            </a:extLst>
          </p:cNvPr>
          <p:cNvSpPr/>
          <p:nvPr/>
        </p:nvSpPr>
        <p:spPr>
          <a:xfrm>
            <a:off x="7863840" y="1097280"/>
            <a:ext cx="3840480" cy="320040"/>
          </a:xfrm>
          <a:prstGeom prst="rect">
            <a:avLst/>
          </a:prstGeom>
          <a:solidFill>
            <a:srgbClr val="0E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6CE1D7-DCCA-6216-F8F4-45029A02FB81}"/>
              </a:ext>
            </a:extLst>
          </p:cNvPr>
          <p:cNvSpPr txBox="1"/>
          <p:nvPr/>
        </p:nvSpPr>
        <p:spPr>
          <a:xfrm>
            <a:off x="8001000" y="1097280"/>
            <a:ext cx="3566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QUICK PROFILE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4B5A3E-0AE4-D4C1-F4E0-A678D2126666}"/>
              </a:ext>
            </a:extLst>
          </p:cNvPr>
          <p:cNvSpPr/>
          <p:nvPr/>
        </p:nvSpPr>
        <p:spPr>
          <a:xfrm>
            <a:off x="7863840" y="1508760"/>
            <a:ext cx="3840480" cy="50292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CEB64F-625A-DABC-E760-E93A949B3C0D}"/>
              </a:ext>
            </a:extLst>
          </p:cNvPr>
          <p:cNvSpPr txBox="1"/>
          <p:nvPr/>
        </p:nvSpPr>
        <p:spPr>
          <a:xfrm>
            <a:off x="8001000" y="1600200"/>
            <a:ext cx="3566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PRIMARY PERSONA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07A074-40B3-32D4-612D-6517F66C80CB}"/>
              </a:ext>
            </a:extLst>
          </p:cNvPr>
          <p:cNvSpPr txBox="1"/>
          <p:nvPr/>
        </p:nvSpPr>
        <p:spPr>
          <a:xfrm>
            <a:off x="8001000" y="1874520"/>
            <a:ext cx="3566160" cy="45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e.g., Steady Elephant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B457E1-D09F-0CF5-D32A-52E993F794C4}"/>
              </a:ext>
            </a:extLst>
          </p:cNvPr>
          <p:cNvSpPr/>
          <p:nvPr/>
        </p:nvSpPr>
        <p:spPr>
          <a:xfrm>
            <a:off x="7863840" y="2039112"/>
            <a:ext cx="3840480" cy="50292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AB2A56-309D-233F-8A29-2D39295AB557}"/>
              </a:ext>
            </a:extLst>
          </p:cNvPr>
          <p:cNvSpPr txBox="1"/>
          <p:nvPr/>
        </p:nvSpPr>
        <p:spPr>
          <a:xfrm>
            <a:off x="8001000" y="2130552"/>
            <a:ext cx="3566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PERSONA PERCENTAGE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35950A-4D58-EB06-5294-D46FA67BDABA}"/>
              </a:ext>
            </a:extLst>
          </p:cNvPr>
          <p:cNvSpPr txBox="1"/>
          <p:nvPr/>
        </p:nvSpPr>
        <p:spPr>
          <a:xfrm>
            <a:off x="8001000" y="2404872"/>
            <a:ext cx="3566160" cy="45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e.g., 78% Steady Elephant (softmax)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439505-EAF6-A11F-0C74-B0D06271DB65}"/>
              </a:ext>
            </a:extLst>
          </p:cNvPr>
          <p:cNvSpPr/>
          <p:nvPr/>
        </p:nvSpPr>
        <p:spPr>
          <a:xfrm>
            <a:off x="7863840" y="2569464"/>
            <a:ext cx="3840480" cy="50292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43AD1B-FC2E-32A5-5AC1-5174588CA7B3}"/>
              </a:ext>
            </a:extLst>
          </p:cNvPr>
          <p:cNvSpPr txBox="1"/>
          <p:nvPr/>
        </p:nvSpPr>
        <p:spPr>
          <a:xfrm>
            <a:off x="8001000" y="2660904"/>
            <a:ext cx="3566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PERSONA FIT SCORE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3CE3B9-F93E-9308-7002-7135DD8B3E0E}"/>
              </a:ext>
            </a:extLst>
          </p:cNvPr>
          <p:cNvSpPr txBox="1"/>
          <p:nvPr/>
        </p:nvSpPr>
        <p:spPr>
          <a:xfrm>
            <a:off x="8001000" y="2935224"/>
            <a:ext cx="3566160" cy="45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e.g., 72/100 — Core tier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B63596-36A9-7E9A-C2A3-80F2FDF8DB9A}"/>
              </a:ext>
            </a:extLst>
          </p:cNvPr>
          <p:cNvSpPr/>
          <p:nvPr/>
        </p:nvSpPr>
        <p:spPr>
          <a:xfrm>
            <a:off x="7863840" y="3099816"/>
            <a:ext cx="3840480" cy="50292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8EEB1A-1CF6-DD26-D3A9-B38DB3C5D0A1}"/>
              </a:ext>
            </a:extLst>
          </p:cNvPr>
          <p:cNvSpPr txBox="1"/>
          <p:nvPr/>
        </p:nvSpPr>
        <p:spPr>
          <a:xfrm>
            <a:off x="8001000" y="3191256"/>
            <a:ext cx="3566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WELLNESS STYLE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554A70-4800-B451-9E26-6F413656AD95}"/>
              </a:ext>
            </a:extLst>
          </p:cNvPr>
          <p:cNvSpPr txBox="1"/>
          <p:nvPr/>
        </p:nvSpPr>
        <p:spPr>
          <a:xfrm>
            <a:off x="8001000" y="3465576"/>
            <a:ext cx="3566160" cy="45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Derived from persona archetype</a:t>
            </a:r>
            <a:br/>
            <a:r>
              <a:t>e.g., 'Structured &amp; Self-Regulated'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BF03AE-11D4-F630-DF05-7257ACEA3125}"/>
              </a:ext>
            </a:extLst>
          </p:cNvPr>
          <p:cNvSpPr/>
          <p:nvPr/>
        </p:nvSpPr>
        <p:spPr>
          <a:xfrm>
            <a:off x="7863840" y="3630168"/>
            <a:ext cx="3840480" cy="50292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3D104D-BDE4-1DBB-DF96-750C1B6D07EB}"/>
              </a:ext>
            </a:extLst>
          </p:cNvPr>
          <p:cNvSpPr txBox="1"/>
          <p:nvPr/>
        </p:nvSpPr>
        <p:spPr>
          <a:xfrm>
            <a:off x="8001000" y="3721608"/>
            <a:ext cx="3566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ENERGY PATTERN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6322E0-9FEA-6D06-A255-85E0ED9CE6AE}"/>
              </a:ext>
            </a:extLst>
          </p:cNvPr>
          <p:cNvSpPr txBox="1"/>
          <p:nvPr/>
        </p:nvSpPr>
        <p:spPr>
          <a:xfrm>
            <a:off x="8001000" y="3995928"/>
            <a:ext cx="3566160" cy="45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Derived from E score vs centroid</a:t>
            </a:r>
            <a:br/>
            <a:r>
              <a:t>e.g., 'Steady-paced' or 'High-energy'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875D9B-7CBB-F6A4-38E9-1CE88CBF201F}"/>
              </a:ext>
            </a:extLst>
          </p:cNvPr>
          <p:cNvSpPr/>
          <p:nvPr/>
        </p:nvSpPr>
        <p:spPr>
          <a:xfrm>
            <a:off x="7863840" y="4160520"/>
            <a:ext cx="3840480" cy="50292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3FADB7-9BDF-25DE-DAAE-FF8FAAA9F059}"/>
              </a:ext>
            </a:extLst>
          </p:cNvPr>
          <p:cNvSpPr txBox="1"/>
          <p:nvPr/>
        </p:nvSpPr>
        <p:spPr>
          <a:xfrm>
            <a:off x="8001000" y="4251960"/>
            <a:ext cx="3566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MOTIVATION DRIVER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6DC228-F27E-7A6D-79F1-B06A22ABDB13}"/>
              </a:ext>
            </a:extLst>
          </p:cNvPr>
          <p:cNvSpPr txBox="1"/>
          <p:nvPr/>
        </p:nvSpPr>
        <p:spPr>
          <a:xfrm>
            <a:off x="8001000" y="4526280"/>
            <a:ext cx="3566160" cy="45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Derived from persona archetype</a:t>
            </a:r>
            <a:br/>
            <a:r>
              <a:t>e.g., 'Internal discipline' or 'Social energy'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A5C90E0-54B9-8C3D-0337-7ECF3DBEE5AE}"/>
              </a:ext>
            </a:extLst>
          </p:cNvPr>
          <p:cNvSpPr/>
          <p:nvPr/>
        </p:nvSpPr>
        <p:spPr>
          <a:xfrm>
            <a:off x="7863840" y="4690872"/>
            <a:ext cx="3840480" cy="50292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365004-E1D7-0CF6-784B-1656E9716740}"/>
              </a:ext>
            </a:extLst>
          </p:cNvPr>
          <p:cNvSpPr txBox="1"/>
          <p:nvPr/>
        </p:nvSpPr>
        <p:spPr>
          <a:xfrm>
            <a:off x="8001000" y="4782312"/>
            <a:ext cx="3566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RISK FACTOR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C009AB-68D7-4710-1539-43FE3D180CA7}"/>
              </a:ext>
            </a:extLst>
          </p:cNvPr>
          <p:cNvSpPr txBox="1"/>
          <p:nvPr/>
        </p:nvSpPr>
        <p:spPr>
          <a:xfrm>
            <a:off x="8001000" y="5056632"/>
            <a:ext cx="3566160" cy="45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Top barrier from contextual questionnaire</a:t>
            </a:r>
            <a:br/>
            <a:r>
              <a:t>e.g., 'Perfectionism' or 'Inconsistency'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66DD93C-6A0D-C3D2-2B1F-FB5A58DABE0D}"/>
              </a:ext>
            </a:extLst>
          </p:cNvPr>
          <p:cNvSpPr/>
          <p:nvPr/>
        </p:nvSpPr>
        <p:spPr>
          <a:xfrm>
            <a:off x="7863840" y="5221224"/>
            <a:ext cx="3840480" cy="50292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A55446-2E2B-98B6-233C-45A8DF31450E}"/>
              </a:ext>
            </a:extLst>
          </p:cNvPr>
          <p:cNvSpPr txBox="1"/>
          <p:nvPr/>
        </p:nvSpPr>
        <p:spPr>
          <a:xfrm>
            <a:off x="8001000" y="5312664"/>
            <a:ext cx="3566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BEST ENVIRONMENT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39ED99-DB57-142B-E994-42430FD318F9}"/>
              </a:ext>
            </a:extLst>
          </p:cNvPr>
          <p:cNvSpPr txBox="1"/>
          <p:nvPr/>
        </p:nvSpPr>
        <p:spPr>
          <a:xfrm>
            <a:off x="8001000" y="5586984"/>
            <a:ext cx="3566160" cy="45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Derived from E + N scores</a:t>
            </a:r>
            <a:br/>
            <a:r>
              <a:t>e.g., 'Quiet, low-pressure settings'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684B4A7-51A9-13EA-B998-8D8749E23681}"/>
              </a:ext>
            </a:extLst>
          </p:cNvPr>
          <p:cNvSpPr/>
          <p:nvPr/>
        </p:nvSpPr>
        <p:spPr>
          <a:xfrm>
            <a:off x="457200" y="1554480"/>
            <a:ext cx="1499616" cy="142646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image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6BC34F7-5438-7107-C1E8-CA9F91120307}"/>
              </a:ext>
            </a:extLst>
          </p:cNvPr>
          <p:cNvSpPr/>
          <p:nvPr/>
        </p:nvSpPr>
        <p:spPr>
          <a:xfrm>
            <a:off x="804672" y="3877057"/>
            <a:ext cx="804672" cy="78181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/>
              <a:t>Secondary image</a:t>
            </a:r>
          </a:p>
        </p:txBody>
      </p:sp>
    </p:spTree>
    <p:extLst>
      <p:ext uri="{BB962C8B-B14F-4D97-AF65-F5344CB8AC3E}">
        <p14:creationId xmlns:p14="http://schemas.microsoft.com/office/powerpoint/2010/main" val="2491073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E948B"/>
                </a:solidFill>
                <a:latin typeface="Calibri"/>
              </a:defRPr>
            </a:pPr>
            <a:r>
              <a:t>SLIDE 3 — WHAT YOU DON'T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What You Don't 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The patterns that quietly shape your wellness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THE PATTERN YOU DON'T NOTICE (80-100 words)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Source: PI-series blind_spot + pattern_prediction, persona context column.</a:t>
            </a:r>
            <a:br/>
            <a:br/>
            <a:r>
              <a:t>Transform the blind spot insight into a narrative that reveals an</a:t>
            </a:r>
            <a:br/>
            <a:r>
              <a:t>unconscious pattern. Start with a specific scenario the user would</a:t>
            </a:r>
            <a:br/>
            <a:r>
              <a:t>recognize. Use the pattern prediction to show where this leads</a:t>
            </a:r>
            <a:br/>
            <a:r>
              <a:t>if unchecked.</a:t>
            </a:r>
            <a:br/>
            <a:br/>
            <a:r>
              <a:t>Never say 'blind spot' — show, don't label.</a:t>
            </a:r>
            <a:br/>
            <a:r>
              <a:t>Tone: revelatory but compassionate, never judgmental.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486400" cy="228600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55448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WHAT THIS MEANS FOR YOUR GOALS (60-80 words)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521208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Source: Blind spot + user goals + user barriers.</a:t>
            </a:r>
            <a:br/>
            <a:br/>
            <a:r>
              <a:t>Connect the blind spot directly to the user's stated goals and</a:t>
            </a:r>
            <a:br/>
            <a:r>
              <a:t>barriers. Show how this hidden pattern has been undermining</a:t>
            </a:r>
            <a:br/>
            <a:r>
              <a:t>their specific goals.</a:t>
            </a:r>
            <a:br/>
            <a:br/>
            <a:r>
              <a:t>Use concrete scenarios, not abstract descriptions.</a:t>
            </a:r>
            <a:br/>
            <a:r>
              <a:t>Reference specific user goals/barriers naturally.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023360"/>
            <a:ext cx="11247120" cy="109728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11480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BLEND-STRENGTH CONTENT RULES FOR THIS SLIDE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3891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Pure (ratio &gt; 2.0): Primary blind_spot + pattern_prediction only. No secondary mention.</a:t>
            </a:r>
            <a:br/>
            <a:r>
              <a:t>Tendencies (1.3-2.0): Primary + optionally secondary pattern_prediction.</a:t>
            </a:r>
            <a:br/>
            <a:r>
              <a:t>Strong Influence (&lt; 1.3): Both personas' blind_spot insights, framed as two sides of the same pattern.</a:t>
            </a:r>
            <a:br/>
            <a:br/>
            <a:r>
              <a:t>AI TONE: Classic = 'You naturally...' | Core = 'You tend to...' | Leaning = 'You may find...' | Exploring = 'Some of your responses suggest...'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03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E948B"/>
                </a:solidFill>
                <a:latin typeface="Calibri"/>
              </a:defRPr>
            </a:pPr>
            <a:r>
              <a:t>Emotional Arc: Revelation — 'I never thought about it that way'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E948B"/>
                </a:solidFill>
                <a:latin typeface="Calibri"/>
              </a:defRPr>
            </a:pPr>
            <a:r>
              <a:t>SLIDE 4 — YOUR SUCCESS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Your Success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What works specifically for your personality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486400" cy="228600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WHAT WORKS FOR YOU (80-100 words)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Source: PI-series success_condition, persona context column.</a:t>
            </a:r>
            <a:br/>
            <a:br/>
            <a:r>
              <a:t>Transform the success condition into a concrete picture of what</a:t>
            </a:r>
            <a:br/>
            <a:r>
              <a:t>their ideal wellness setup looks like. Be specific about</a:t>
            </a:r>
            <a:br/>
            <a:r>
              <a:t>environments, timing, social context, and structure.</a:t>
            </a:r>
            <a:br/>
            <a:br/>
            <a:r>
              <a:t>Should feel like a prescription, not generic advice.</a:t>
            </a:r>
            <a:br/>
            <a:r>
              <a:t>e.g., 'train in the early morning with a fixed 3-day schedule'</a:t>
            </a:r>
            <a:br/>
            <a:r>
              <a:t>not 'find what works for you'.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63040"/>
            <a:ext cx="5486400" cy="228600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55448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YOUR NATURAL ADVANTAGE (60-80 words)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521208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Source: PI-series strength_insight, persona context column.</a:t>
            </a:r>
            <a:br/>
            <a:br/>
            <a:r>
              <a:t>Reframe the strength insight as a genuine competitive advantage.</a:t>
            </a:r>
            <a:br/>
            <a:r>
              <a:t>Show how this trait, which they may take for granted, is actually</a:t>
            </a:r>
            <a:br/>
            <a:r>
              <a:t>rare and powerful in a wellness context.</a:t>
            </a:r>
            <a:br/>
            <a:br/>
            <a:r>
              <a:t>Tone: empowering, specific, slightly surprising.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023360"/>
            <a:ext cx="11247120" cy="109728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411480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BLEND-STRENGTH CONTENT RULES FOR THIS SLIDE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389120"/>
            <a:ext cx="109728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Pure: Primary success_condition + strength_insight only.</a:t>
            </a:r>
            <a:br/>
            <a:r>
              <a:t>Tendencies: Primary + brief secondary mention of what secondary persona adds.</a:t>
            </a:r>
            <a:br/>
            <a:r>
              <a:t>Strong Influence: Both personas' success_condition, framed as a dual requirement — how the user needs BOTH conditions met to sustain wellness.</a:t>
            </a:r>
            <a:br/>
            <a:br/>
            <a:r>
              <a:t>AI TONE: Classic = assertive | Core = confident | Leaning = exploratory | Exploring = tentative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30352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E948B"/>
                </a:solidFill>
                <a:latin typeface="Calibri"/>
              </a:defRPr>
            </a:pPr>
            <a:r>
              <a:t>Emotional Arc: Hope + Curiosity — 'This could actually work for me'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E948B"/>
                </a:solidFill>
                <a:latin typeface="Calibri"/>
              </a:defRPr>
            </a:pPr>
            <a:r>
              <a:t>SLIDE 5 — WHERE YOU 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Where You Stand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743200" cy="320040"/>
          </a:xfrm>
          <a:prstGeom prst="rect">
            <a:avLst/>
          </a:prstGeom>
          <a:solidFill>
            <a:srgbClr val="0E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YOUR PERSONA FIT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029200" cy="68580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PERSONA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e.g., Core Steady Elephant with Watchful Deer tendencies</a:t>
            </a:r>
            <a:br/>
            <a:r>
              <a:t>Fit tiers: Classic (75-100) | Core (50-74) | Leaning (25-49) | Exploring (0-24)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5029200" cy="109728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TRAIT DEVIATION INSIGHT #1 (30-40 words)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47548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The most notable difference from persona centroid.</a:t>
            </a:r>
            <a:br/>
            <a:r>
              <a:t>Selection: |user_score - centroid_score| &gt; 0.8, max 2 shown.</a:t>
            </a:r>
            <a:br/>
            <a:r>
              <a:t>Trait names: O=Openness, C=Discipline, E=Social Energy,</a:t>
            </a:r>
            <a:br/>
            <a:r>
              <a:t>A=Agreeableness, N=Stress Sensitivity.</a:t>
            </a:r>
            <a:br/>
            <a:r>
              <a:t>e.g., 'You draw more energy from social settings than most</a:t>
            </a:r>
            <a:br/>
            <a:r>
              <a:t>people with your planning style...'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11880"/>
            <a:ext cx="5029200" cy="91440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7033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TRAIT DEVIATION INSIGHT #2 (30-40 words, conditional)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977640"/>
            <a:ext cx="4754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Second notable deviation. Only show if deviation &gt; 0.8.</a:t>
            </a:r>
            <a:br/>
            <a:r>
              <a:t>Frame deviations as interesting differences, not problems.</a:t>
            </a:r>
            <a:br/>
            <a:r>
              <a:t>Translate OCEAN trait names to behavioral language.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1097280"/>
            <a:ext cx="5943600" cy="228600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97880" y="1188720"/>
            <a:ext cx="5669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RADAR / SPIDER CHART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1463040"/>
            <a:ext cx="566928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Visual: User's OCEAN profile (solid line)</a:t>
            </a:r>
            <a:br/>
            <a:r>
              <a:t>vs. Persona centroid (dashed line)</a:t>
            </a:r>
            <a:br/>
            <a:br/>
            <a:r>
              <a:t>Labels: Openness, Discipline, Social Energy,</a:t>
            </a:r>
            <a:br/>
            <a:r>
              <a:t>Agreeableness, Stress Sensitivity</a:t>
            </a:r>
            <a:br/>
            <a:br/>
            <a:r>
              <a:t>This is the ONLY data visualization in the report.</a:t>
            </a:r>
            <a:br/>
            <a:r>
              <a:t>No AI synthesis needed — chart is data-driven.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3520440"/>
            <a:ext cx="5943600" cy="100584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97880" y="3611880"/>
            <a:ext cx="5669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PERSONA DISTRIBUTION (NEW in v2.0)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3886200"/>
            <a:ext cx="56692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Bar or pie chart showing softmax % match to all 6 personas.</a:t>
            </a:r>
            <a:br/>
            <a:r>
              <a:t>e.g., 48% Bear, 22% Elephant, 12% Wolf, 8% Deer, 6% Fox, 4% Turtle.</a:t>
            </a:r>
            <a:br/>
            <a:r>
              <a:t>Source: Softmax percentages from assessment engine.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34840"/>
            <a:ext cx="11247120" cy="100584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45262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SECONDARY PERSONA CONTEXT (blend-strength dependent)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80060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Pure: No secondary mention in this section.</a:t>
            </a:r>
            <a:br/>
            <a:r>
              <a:t>Tendencies: Secondary shown in persona distribution chart only — no narrative.</a:t>
            </a:r>
            <a:br/>
            <a:r>
              <a:t>Strong Influence: Secondary highlighted in distribution chart + narrative explaining practical impact.</a:t>
            </a:r>
            <a:br/>
            <a:r>
              <a:t>e.g., 'Your Watchful Deer tendencies mean you are more sensitive to stress than the average Elephant...'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2356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E948B"/>
                </a:solidFill>
                <a:latin typeface="Calibri"/>
              </a:defRPr>
            </a:pPr>
            <a:r>
              <a:t>Emotional Arc: Clarity — 'Now I understand where I stand'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E948B"/>
                </a:solidFill>
                <a:latin typeface="Calibri"/>
              </a:defRPr>
            </a:pPr>
            <a:r>
              <a:t>SLIDE 6 — HIGH-IMPACT WELLNESS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Your High-Impact Wellness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The 3 biggest areas where small changes will create the most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097280" cy="320040"/>
          </a:xfrm>
          <a:prstGeom prst="rect">
            <a:avLst/>
          </a:prstGeom>
          <a:solidFill>
            <a:srgbClr val="0E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PILLAR 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1463040"/>
            <a:ext cx="914400" cy="320040"/>
          </a:xfrm>
          <a:prstGeom prst="rect">
            <a:avLst/>
          </a:prstGeom>
          <a:solidFill>
            <a:srgbClr val="E8EDF2"/>
          </a:solidFill>
          <a:ln w="12700">
            <a:solidFill>
              <a:srgbClr val="0E9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83080" y="146304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0E948B"/>
                </a:solidFill>
                <a:latin typeface="Calibri"/>
              </a:defRPr>
            </a:pPr>
            <a:r>
              <a:t>IMPACT: HIGH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3566160" cy="64008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OPPORTUNITY 1 — HEADLINE (max 10 words)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32918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AI-synthesized from persona context text.</a:t>
            </a:r>
            <a:br/>
            <a:r>
              <a:t>Specific and actionable — reader knows exactly what to 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97480"/>
            <a:ext cx="3566160" cy="155448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WHY IT MATTERS (40-50 words)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063240"/>
            <a:ext cx="32918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Connect the recommendation to the user's persona patterns</a:t>
            </a:r>
            <a:br/>
            <a:r>
              <a:t>and stated goals. Explain why THIS person specifically</a:t>
            </a:r>
            <a:br/>
            <a:r>
              <a:t>benefits from THIS action.</a:t>
            </a:r>
            <a:br/>
            <a:br/>
            <a:r>
              <a:t>Source: Top 3 recs by score across all pillars.</a:t>
            </a:r>
            <a:br/>
            <a:r>
              <a:t>Each from a different pillar.</a:t>
            </a:r>
            <a:br/>
            <a:r>
              <a:t>Exclude PI series and safety_guidance.</a:t>
            </a:r>
            <a:br/>
            <a:r>
              <a:t>Strength must be core or supporting.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463040"/>
            <a:ext cx="1097280" cy="320040"/>
          </a:xfrm>
          <a:prstGeom prst="rect">
            <a:avLst/>
          </a:prstGeom>
          <a:solidFill>
            <a:srgbClr val="0E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0" y="14630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PILLAR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1463040"/>
            <a:ext cx="914400" cy="320040"/>
          </a:xfrm>
          <a:prstGeom prst="rect">
            <a:avLst/>
          </a:prstGeom>
          <a:solidFill>
            <a:srgbClr val="E8EDF2"/>
          </a:solidFill>
          <a:ln w="12700">
            <a:solidFill>
              <a:srgbClr val="0E9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23560" y="146304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0E948B"/>
                </a:solidFill>
                <a:latin typeface="Calibri"/>
              </a:defRPr>
            </a:pPr>
            <a:r>
              <a:t>IMPACT: 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1920240"/>
            <a:ext cx="3566160" cy="64008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34840" y="201168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OPPORTUNITY 2 — HEADLINE (max 10 words)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286000"/>
            <a:ext cx="32918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AI-synthesized from persona context text.</a:t>
            </a:r>
            <a:br/>
            <a:r>
              <a:t>Specific and actionable — reader knows exactly what to do.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2697480"/>
            <a:ext cx="3566160" cy="155448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40" y="278892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WHY IT MATTERS (40-50 words)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063240"/>
            <a:ext cx="32918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Connect the recommendation to the user's persona patterns</a:t>
            </a:r>
            <a:br/>
            <a:r>
              <a:t>and stated goals. Explain why THIS person specifically</a:t>
            </a:r>
            <a:br/>
            <a:r>
              <a:t>benefits from THIS action.</a:t>
            </a:r>
            <a:br/>
            <a:br/>
            <a:r>
              <a:t>Source: Top 3 recs by score across all pillars.</a:t>
            </a:r>
            <a:br/>
            <a:r>
              <a:t>Each from a different pillar.</a:t>
            </a:r>
            <a:br/>
            <a:r>
              <a:t>Exclude PI series and safety_guidance.</a:t>
            </a:r>
            <a:br/>
            <a:r>
              <a:t>Strength must be core or supporting.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463040"/>
            <a:ext cx="1097280" cy="320040"/>
          </a:xfrm>
          <a:prstGeom prst="rect">
            <a:avLst/>
          </a:prstGeom>
          <a:solidFill>
            <a:srgbClr val="0E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0" y="1463040"/>
            <a:ext cx="914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FFFFFF"/>
                </a:solidFill>
                <a:latin typeface="Calibri"/>
              </a:defRPr>
            </a:pPr>
            <a:r>
              <a:t>PILLAR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0" y="1463040"/>
            <a:ext cx="914400" cy="320040"/>
          </a:xfrm>
          <a:prstGeom prst="rect">
            <a:avLst/>
          </a:prstGeom>
          <a:solidFill>
            <a:srgbClr val="E8EDF2"/>
          </a:solidFill>
          <a:ln w="12700">
            <a:solidFill>
              <a:srgbClr val="0E9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64040" y="146304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00" b="1">
                <a:solidFill>
                  <a:srgbClr val="0E948B"/>
                </a:solidFill>
                <a:latin typeface="Calibri"/>
              </a:defRPr>
            </a:pPr>
            <a:r>
              <a:t>IMPACT: HIGH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1920240"/>
            <a:ext cx="3566160" cy="64008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75320" y="201168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OPPORTUNITY 3 — HEADLINE (max 10 words)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286000"/>
            <a:ext cx="329184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AI-synthesized from persona context text.</a:t>
            </a:r>
            <a:br/>
            <a:r>
              <a:t>Specific and actionable — reader knows exactly what to do.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2697480"/>
            <a:ext cx="3566160" cy="155448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75320" y="278892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WHY IT MATTERS (40-50 words)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063240"/>
            <a:ext cx="329184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Connect the recommendation to the user's persona patterns</a:t>
            </a:r>
            <a:br/>
            <a:r>
              <a:t>and stated goals. Explain why THIS person specifically</a:t>
            </a:r>
            <a:br/>
            <a:r>
              <a:t>benefits from THIS action.</a:t>
            </a:r>
            <a:br/>
            <a:br/>
            <a:r>
              <a:t>Source: Top 3 recs by score across all pillars.</a:t>
            </a:r>
            <a:br/>
            <a:r>
              <a:t>Each from a different pillar.</a:t>
            </a:r>
            <a:br/>
            <a:r>
              <a:t>Exclude PI series and safety_guidance.</a:t>
            </a:r>
            <a:br/>
            <a:r>
              <a:t>Strength must be core or supporting.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846320"/>
            <a:ext cx="11247120" cy="82296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4360" y="493776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SELECTION &amp; SCORING RULES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21208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Score &gt; 120 = 'Very High' impact | Score &gt; 100 = 'High' impact.</a:t>
            </a:r>
            <a:br/>
            <a:r>
              <a:t>Prefer type = do or first_action (actionable over reflective).</a:t>
            </a:r>
            <a:br/>
            <a:r>
              <a:t>Use persona context column text, not rec column. Fit-tier scoring adjustments apply to recommendation scores.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62356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E948B"/>
                </a:solidFill>
                <a:latin typeface="Calibri"/>
              </a:defRPr>
            </a:pPr>
            <a:r>
              <a:t>Emotional Arc: Excitement — 'These are genuinely useful'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E948B"/>
                </a:solidFill>
                <a:latin typeface="Calibri"/>
              </a:defRPr>
            </a:pPr>
            <a:r>
              <a:t>SLIDE 7 — 4-PILLAR ACTION PLAN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Your Personalized Action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623560" cy="320040"/>
          </a:xfrm>
          <a:prstGeom prst="rect">
            <a:avLst/>
          </a:prstGeom>
          <a:solidFill>
            <a:srgbClr val="0E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5349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NUTRITION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5623560" cy="50292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5349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FOCUS AREA (from highest-scoring mindset_shift)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5349240" cy="45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Single powerful reframe — the most important shift for this pillar.</a:t>
            </a:r>
            <a:br/>
            <a:r>
              <a:t>Max 15 words. Source: mindset_shift persona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E948B"/>
                </a:solidFill>
                <a:latin typeface="Calibri"/>
              </a:defRPr>
            </a:pPr>
            <a:r>
              <a:t>4 DO'S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31720"/>
            <a:ext cx="5623560" cy="146304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423160"/>
            <a:ext cx="5349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697480"/>
            <a:ext cx="5349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Do 1: [action, max 12 words] — [persona-specific why, max 20 words]</a:t>
            </a:r>
            <a:br/>
            <a:r>
              <a:t>Do 2: [action, max 12 words] — [persona-specific why, max 20 words]</a:t>
            </a:r>
            <a:br/>
            <a:r>
              <a:t>Do 3: [action, max 12 words] — [persona-specific why, max 20 words]</a:t>
            </a:r>
            <a:br/>
            <a:r>
              <a:t>Do 4: [action, max 12 words] — [persona-specific why, max 20 words]</a:t>
            </a:r>
            <a:br/>
            <a:br/>
            <a:r>
              <a:t>Format: '[action] — [persona-specific why]'</a:t>
            </a:r>
            <a:br/>
            <a:r>
              <a:t>Source: Top 4 do/first_action recs by score, persona context.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8620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E948B"/>
                </a:solidFill>
                <a:latin typeface="Calibri"/>
              </a:defRPr>
            </a:pPr>
            <a:r>
              <a:t>2 DON'TS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5623560" cy="91440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206240"/>
            <a:ext cx="5349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480560"/>
            <a:ext cx="5349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Don't 1: [behavior, max 12 words] — [persona-specific why, max 20 words]</a:t>
            </a:r>
            <a:br/>
            <a:r>
              <a:t>Don't 2: [behavior, max 12 words] — [persona-specific why, max 20 words]</a:t>
            </a:r>
            <a:br/>
            <a:br/>
            <a:r>
              <a:t>Start with verb. Source: Top 2 dont recs by score, persona context.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097280"/>
            <a:ext cx="5623560" cy="320040"/>
          </a:xfrm>
          <a:prstGeom prst="rect">
            <a:avLst/>
          </a:prstGeom>
          <a:solidFill>
            <a:srgbClr val="0E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097280"/>
            <a:ext cx="5349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PHYSICAL ACTIVITY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1508760"/>
            <a:ext cx="5623560" cy="50292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1600200"/>
            <a:ext cx="5349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FOCUS AREA (from highest-scoring mindset_shift)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874520"/>
            <a:ext cx="5349240" cy="45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Single powerful reframe — the most important shift for this pillar.</a:t>
            </a:r>
            <a:br/>
            <a:r>
              <a:t>Max 15 words. Source: mindset_shift persona context.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1031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E948B"/>
                </a:solidFill>
                <a:latin typeface="Calibri"/>
              </a:defRPr>
            </a:pPr>
            <a:r>
              <a:t>4 DO'S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2331720"/>
            <a:ext cx="5623560" cy="146304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2423160"/>
            <a:ext cx="5349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2697480"/>
            <a:ext cx="5349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Do 1: [action, max 12 words] — [persona-specific why, max 20 words]</a:t>
            </a:r>
            <a:br/>
            <a:r>
              <a:t>Do 2: [action, max 12 words] — [persona-specific why, max 20 words]</a:t>
            </a:r>
            <a:br/>
            <a:r>
              <a:t>Do 3: [action, max 12 words] — [persona-specific why, max 20 words]</a:t>
            </a:r>
            <a:br/>
            <a:r>
              <a:t>Do 4: [action, max 12 words] — [persona-specific why, max 20 words]</a:t>
            </a:r>
            <a:br/>
            <a:br/>
            <a:r>
              <a:t>Format: '[action] — [persona-specific why]'</a:t>
            </a:r>
            <a:br/>
            <a:r>
              <a:t>Source: Top 4 do/first_action recs by score, persona context.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88620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E948B"/>
                </a:solidFill>
                <a:latin typeface="Calibri"/>
              </a:defRPr>
            </a:pPr>
            <a:r>
              <a:t>2 DON'TS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4114800"/>
            <a:ext cx="5623560" cy="91440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4206240"/>
            <a:ext cx="5349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4480560"/>
            <a:ext cx="5349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Don't 1: [behavior, max 12 words] — [persona-specific why, max 20 words]</a:t>
            </a:r>
            <a:br/>
            <a:r>
              <a:t>Don't 2: [behavior, max 12 words] — [persona-specific why, max 20 words]</a:t>
            </a:r>
            <a:br/>
            <a:br/>
            <a:r>
              <a:t>Start with verb. Source: Top 2 dont recs by score, persona context.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Blend rules: Pure = primary context only | Tendencies = primary + 1-2 secondary notes | Strong Influence = primary + secondary 'also consider' notes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550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E948B"/>
                </a:solidFill>
                <a:latin typeface="Calibri"/>
              </a:defRPr>
            </a:pPr>
            <a:r>
              <a:t>Emotional Arc: Confidence — 'I know exactly what to do'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E948B"/>
                </a:solidFill>
                <a:latin typeface="Calibri"/>
              </a:defRPr>
            </a:pPr>
            <a:r>
              <a:t>SLIDE 8 — 4-PILLAR ACTION PLAN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Your Personalized Action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623560" cy="320040"/>
          </a:xfrm>
          <a:prstGeom prst="rect">
            <a:avLst/>
          </a:prstGeom>
          <a:solidFill>
            <a:srgbClr val="0E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5349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SLEEP &amp;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5623560" cy="50292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5349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FOCUS AREA (from highest-scoring mindset_shift)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20"/>
            <a:ext cx="5349240" cy="45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Single powerful reframe — the most important shift for this pillar.</a:t>
            </a:r>
            <a:br/>
            <a:r>
              <a:t>Max 15 words. Source: mindset_shift persona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E948B"/>
                </a:solidFill>
                <a:latin typeface="Calibri"/>
              </a:defRPr>
            </a:pPr>
            <a:r>
              <a:t>4 DO'S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31720"/>
            <a:ext cx="5623560" cy="146304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423160"/>
            <a:ext cx="5349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697480"/>
            <a:ext cx="5349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Do 1: [action, max 12 words] — [persona-specific why, max 20 words]</a:t>
            </a:r>
            <a:br/>
            <a:r>
              <a:t>Do 2: [action, max 12 words] — [persona-specific why, max 20 words]</a:t>
            </a:r>
            <a:br/>
            <a:r>
              <a:t>Do 3: [action, max 12 words] — [persona-specific why, max 20 words]</a:t>
            </a:r>
            <a:br/>
            <a:r>
              <a:t>Do 4: [action, max 12 words] — [persona-specific why, max 20 words]</a:t>
            </a:r>
            <a:br/>
            <a:br/>
            <a:r>
              <a:t>Format: '[action] — [persona-specific why]'</a:t>
            </a:r>
            <a:br/>
            <a:r>
              <a:t>Source: Top 4 do/first_action recs by score, persona context.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8620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E948B"/>
                </a:solidFill>
                <a:latin typeface="Calibri"/>
              </a:defRPr>
            </a:pPr>
            <a:r>
              <a:t>2 DON'TS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5623560" cy="91440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206240"/>
            <a:ext cx="5349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4480560"/>
            <a:ext cx="5349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Don't 1: [behavior, max 12 words] — [persona-specific why, max 20 words]</a:t>
            </a:r>
            <a:br/>
            <a:r>
              <a:t>Don't 2: [behavior, max 12 words] — [persona-specific why, max 20 words]</a:t>
            </a:r>
            <a:br/>
            <a:br/>
            <a:r>
              <a:t>Start with verb. Source: Top 2 dont recs by score, persona context.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097280"/>
            <a:ext cx="5623560" cy="320040"/>
          </a:xfrm>
          <a:prstGeom prst="rect">
            <a:avLst/>
          </a:prstGeom>
          <a:solidFill>
            <a:srgbClr val="0E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097280"/>
            <a:ext cx="53492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MENTAL WELLNESS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1508760"/>
            <a:ext cx="5623560" cy="50292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1600200"/>
            <a:ext cx="5349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FOCUS AREA (from highest-scoring mindset_shift)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874520"/>
            <a:ext cx="5349240" cy="45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Single powerful reframe — the most important shift for this pillar.</a:t>
            </a:r>
            <a:br/>
            <a:r>
              <a:t>Max 15 words. Source: mindset_shift persona context.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10312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E948B"/>
                </a:solidFill>
                <a:latin typeface="Calibri"/>
              </a:defRPr>
            </a:pPr>
            <a:r>
              <a:t>4 DO'S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2331720"/>
            <a:ext cx="5623560" cy="146304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2423160"/>
            <a:ext cx="5349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2697480"/>
            <a:ext cx="534924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Do 1: [action, max 12 words] — [persona-specific why, max 20 words]</a:t>
            </a:r>
            <a:br/>
            <a:r>
              <a:t>Do 2: [action, max 12 words] — [persona-specific why, max 20 words]</a:t>
            </a:r>
            <a:br/>
            <a:r>
              <a:t>Do 3: [action, max 12 words] — [persona-specific why, max 20 words]</a:t>
            </a:r>
            <a:br/>
            <a:r>
              <a:t>Do 4: [action, max 12 words] — [persona-specific why, max 20 words]</a:t>
            </a:r>
            <a:br/>
            <a:br/>
            <a:r>
              <a:t>Format: '[action] — [persona-specific why]'</a:t>
            </a:r>
            <a:br/>
            <a:r>
              <a:t>Source: Top 4 do/first_action recs by score, persona context.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886200"/>
            <a:ext cx="914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E948B"/>
                </a:solidFill>
                <a:latin typeface="Calibri"/>
              </a:defRPr>
            </a:pPr>
            <a:r>
              <a:t>2 DON'TS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4114800"/>
            <a:ext cx="5623560" cy="91440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4206240"/>
            <a:ext cx="5349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4480560"/>
            <a:ext cx="5349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Don't 1: [behavior, max 12 words] — [persona-specific why, max 20 words]</a:t>
            </a:r>
            <a:br/>
            <a:r>
              <a:t>Don't 2: [behavior, max 12 words] — [persona-specific why, max 20 words]</a:t>
            </a:r>
            <a:br/>
            <a:br/>
            <a:r>
              <a:t>Start with verb. Source: Top 2 dont recs by score, persona context.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Blend rules: Pure = primary context only | Tendencies = primary + 1-2 secondary notes | Strong Influence = primary + secondary 'also consider' notes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550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E948B"/>
                </a:solidFill>
                <a:latin typeface="Calibri"/>
              </a:defRPr>
            </a:pPr>
            <a:r>
              <a:t>Emotional Arc: Confidence — 'I know exactly what to do'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E948B"/>
                </a:solidFill>
                <a:latin typeface="Calibri"/>
              </a:defRPr>
            </a:pPr>
            <a:r>
              <a:t>SLIDE 9 — YOUR WELLNESS LAUNCHPAD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Your Wellness Launchpad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777777"/>
                </a:solidFill>
                <a:latin typeface="Calibri"/>
              </a:defRPr>
            </a:pPr>
            <a:r>
              <a:t>6 things you can start this week — zero equipment, zero cost, zero expertise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3566160" cy="320040"/>
          </a:xfrm>
          <a:prstGeom prst="rect">
            <a:avLst/>
          </a:prstGeom>
          <a:solidFill>
            <a:srgbClr val="0E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START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2 first_action recs — easiest wins, doable TODAY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3566160" cy="137160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ACTION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3291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Action (max 15 words): Specific, immediately doable.</a:t>
            </a:r>
            <a:br/>
            <a:r>
              <a:t>Context (max 12 words): When or how to do this.</a:t>
            </a:r>
            <a:br/>
            <a:br/>
            <a:r>
              <a:t>Source: type = first_action, strength = core/supporting.</a:t>
            </a:r>
            <a:br/>
            <a:r>
              <a:t>Top 2 by score, cross-pillar.</a:t>
            </a:r>
            <a:br/>
            <a:r>
              <a:t>Persona context framing applied.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11880"/>
            <a:ext cx="3566160" cy="137160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70332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ACTION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977640"/>
            <a:ext cx="3291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Action (max 15 words): Specific, immediately doable.</a:t>
            </a:r>
            <a:br/>
            <a:r>
              <a:t>Context (max 12 words): When or how to do this.</a:t>
            </a:r>
            <a:br/>
            <a:br/>
            <a:r>
              <a:t>Source: type = first_action, strength = core/supporting.</a:t>
            </a:r>
            <a:br/>
            <a:r>
              <a:t>Top 2 by score, cross-pillar.</a:t>
            </a:r>
            <a:br/>
            <a:r>
              <a:t>Persona context framing applied.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3566160" cy="320040"/>
          </a:xfrm>
          <a:prstGeom prst="rect">
            <a:avLst/>
          </a:prstGeom>
          <a:solidFill>
            <a:srgbClr val="0E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141732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ENVIRONMENT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783080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One-time changes to your physical/digital space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103120"/>
            <a:ext cx="3566160" cy="137160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34840" y="219456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ACTION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468880"/>
            <a:ext cx="3291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Action (max 15 words): Specific, immediately doable.</a:t>
            </a:r>
            <a:br/>
            <a:r>
              <a:t>Context (max 12 words): When or how to do this.</a:t>
            </a:r>
            <a:br/>
            <a:br/>
            <a:r>
              <a:t>Source: type = environment_change.</a:t>
            </a:r>
            <a:br/>
            <a:r>
              <a:t>Top 2 by score, cross-pillar.</a:t>
            </a:r>
            <a:br/>
            <a:r>
              <a:t>Persona context framing applied.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611880"/>
            <a:ext cx="3566160" cy="137160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34840" y="370332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ACTION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977640"/>
            <a:ext cx="3291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Action (max 15 words): Specific, immediately doable.</a:t>
            </a:r>
            <a:br/>
            <a:r>
              <a:t>Context (max 12 words): When or how to do this.</a:t>
            </a:r>
            <a:br/>
            <a:br/>
            <a:r>
              <a:t>Source: type = environment_change.</a:t>
            </a:r>
            <a:br/>
            <a:r>
              <a:t>Top 2 by score, cross-pillar.</a:t>
            </a:r>
            <a:br/>
            <a:r>
              <a:t>Persona context framing applied.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417320"/>
            <a:ext cx="3566160" cy="320040"/>
          </a:xfrm>
          <a:prstGeom prst="rect">
            <a:avLst/>
          </a:prstGeom>
          <a:solidFill>
            <a:srgbClr val="0E9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75320" y="141732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RECOVERY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1783080"/>
            <a:ext cx="33832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Simple if-then rules for rest and prevention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2103120"/>
            <a:ext cx="3566160" cy="137160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20" y="219456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ACTION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468880"/>
            <a:ext cx="3291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Action (max 15 words): Specific, immediately doable.</a:t>
            </a:r>
            <a:br/>
            <a:r>
              <a:t>Context (max 12 words): When or how to do this.</a:t>
            </a:r>
            <a:br/>
            <a:br/>
            <a:r>
              <a:t>Source: type = recovery_rule.</a:t>
            </a:r>
            <a:br/>
            <a:r>
              <a:t>Top 2 by score, cross-pillar.</a:t>
            </a:r>
            <a:br/>
            <a:r>
              <a:t>Persona context framing applied.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3611880"/>
            <a:ext cx="3566160" cy="137160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75320" y="370332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ACTION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977640"/>
            <a:ext cx="3291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Action (max 15 words): Specific, immediately doable.</a:t>
            </a:r>
            <a:br/>
            <a:r>
              <a:t>Context (max 12 words): When or how to do this.</a:t>
            </a:r>
            <a:br/>
            <a:br/>
            <a:r>
              <a:t>Source: type = recovery_rule.</a:t>
            </a:r>
            <a:br/>
            <a:r>
              <a:t>Top 2 by score, cross-pillar.</a:t>
            </a:r>
            <a:br/>
            <a:r>
              <a:t>Persona context framing applied.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0350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E948B"/>
                </a:solidFill>
                <a:latin typeface="Calibri"/>
              </a:defRPr>
            </a:pPr>
            <a:r>
              <a:t>Emotional Arc: Momentum — 'I can start right now'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E948B"/>
                </a:solidFill>
                <a:latin typeface="Calibri"/>
              </a:defRPr>
            </a:pPr>
            <a:r>
              <a:t>SLIDE 10 — YOUR COACHING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Your Coaching Guide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486400" cy="91440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KEY STRENGTH (2 sentences, 30-40 words)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5212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Source: strength_insight PI recommendation, persona context column.</a:t>
            </a:r>
            <a:br/>
            <a:r>
              <a:t>Your single biggest wellness advantage. Frame as something to lean on.</a:t>
            </a:r>
            <a:br/>
            <a:r>
              <a:t>Key Strength and Key Risk should feel like two sides of the same coin.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97280"/>
            <a:ext cx="5486400" cy="91440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188720"/>
            <a:ext cx="5212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KEY RISK (2 sentences, 30-40 words)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463040"/>
            <a:ext cx="5212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Source: blind_spot PI recommendation + user barriers.</a:t>
            </a:r>
            <a:br/>
            <a:r>
              <a:t>The single biggest threat to consistency. Frame as something</a:t>
            </a:r>
            <a:br/>
            <a:r>
              <a:t>to watch for, not a character flaw.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11247120" cy="182880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COACHING NOTES (3-4 bullet points, each 15-25 words)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6032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Source: All 4 PI-series persona context texts + top 5 recommendations by score.</a:t>
            </a:r>
            <a:br/>
            <a:r>
              <a:t>Each note = specific, actionable coaching-style observation.</a:t>
            </a:r>
            <a:br/>
            <a:r>
              <a:t>Format: '[Observation]. [Action or reframe].'</a:t>
            </a:r>
            <a:br/>
            <a:br/>
            <a:r>
              <a:t>- Note 1: [coaching observation derived from PI blind_spot + pattern_prediction]</a:t>
            </a:r>
            <a:br/>
            <a:r>
              <a:t>- Note 2: [coaching observation derived from PI success_condition]</a:t>
            </a:r>
            <a:br/>
            <a:r>
              <a:t>- Note 3: [coaching observation derived from top-scoring recommendations]</a:t>
            </a:r>
            <a:br/>
            <a:r>
              <a:t>- Note 4: [coaching observation synthesizing PI strength_insight + barriers]</a:t>
            </a:r>
            <a:br/>
            <a:br/>
            <a:r>
              <a:t>Blend rules: Pure = primary PI only | Tendencies = primary PI + secondary tendency note |</a:t>
            </a:r>
            <a:br/>
            <a:r>
              <a:t>Strong Influence = explicit blend coaching — how two sides conflict/complement.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06240"/>
            <a:ext cx="11247120" cy="91440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42976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SAFETY &amp; RECOVERY NOTES (conditional — only if triggered)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57200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Source: type = safety_guidance, persona matches user's primary or all_personas.</a:t>
            </a:r>
            <a:br/>
            <a:r>
              <a:t>Include ALL matching safety recs (do not limit count).</a:t>
            </a:r>
            <a:br/>
            <a:r>
              <a:t>Rewrite each in clear, non-alarming language. 1 sentence each.</a:t>
            </a:r>
            <a:br/>
            <a:r>
              <a:t>If no safety recs match, omit this section entirely.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solidFill>
            <a:srgbClr val="E8EDF2"/>
          </a:solidFill>
          <a:ln w="12700">
            <a:solidFill>
              <a:srgbClr val="BBC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539496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0E948B"/>
                </a:solidFill>
                <a:latin typeface="Calibri"/>
              </a:defRPr>
            </a:pPr>
            <a:r>
              <a:t>FIT TIER &amp; BLEND CONTEXT FOR AI SYNTHESIS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5669280"/>
            <a:ext cx="10972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777777"/>
                </a:solidFill>
                <a:latin typeface="Calibri"/>
              </a:defRPr>
            </a:pPr>
            <a:r>
              <a:t>Every AI synthesis prompt receives: fit_tier (Classic/Core/Leaning/Exploring) + blend_strength (Pure/Tendencies/Strong Influence).</a:t>
            </a:r>
            <a:br/>
            <a:r>
              <a:t>System prompt instructs model to adjust tone by tier and content inclusion by blend strength.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12648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0E948B"/>
                </a:solidFill>
                <a:latin typeface="Calibri"/>
              </a:defRPr>
            </a:pPr>
            <a:r>
              <a:t>Emotional Arc: Trust — 'I'm in good hands'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3341</Words>
  <Application>Microsoft Office PowerPoint</Application>
  <PresentationFormat>Widescreen</PresentationFormat>
  <Paragraphs>173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Suraj Rajendran</cp:lastModifiedBy>
  <cp:revision>2</cp:revision>
  <dcterms:created xsi:type="dcterms:W3CDTF">2013-01-27T09:14:16Z</dcterms:created>
  <dcterms:modified xsi:type="dcterms:W3CDTF">2026-06-11T20:09:52Z</dcterms:modified>
  <cp:category/>
</cp:coreProperties>
</file>